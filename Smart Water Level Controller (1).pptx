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d7c288f-6f82-445b-8daa-96e0303cf32e.fntdata" /><ns0:Relationship Id="rIdFont18" Type="http://schemas.openxmlformats.org/officeDocument/2006/relationships/font" Target="fonts/3766e117-0c56-4c0f-8fff-85dc5646c3b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660552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59347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EMBEDDED SYSTEMS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7367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Smart Water Level Controller &amp; Automated Pumping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03302"/>
            <a:ext cx="6762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Real-time ultrasonic sensing, PWM motor control, and automated threshold management using STM32.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86087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298608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2986087"/>
            <a:ext cx="1714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CHALLENGE &amp;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The Problem with Manual Water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Overflow &amp; Wastage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Manual monitoring leads to frequent tank overflows, structural water damage, and wasted electricity.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Dry Running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47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Unmonitored low water levels cause pump burnout, thermal overheating, and frequent equipment failures.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Operators spend constant manual effort inspecting remote tanks and managing pump power switches.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05150"/>
            <a:ext cx="34035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09900"/>
            <a:ext cx="340355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05150"/>
            <a:ext cx="34035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HARDWARE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Core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381375"/>
            <a:ext cx="37420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STM32F103RB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657600"/>
            <a:ext cx="294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ARM Cortex-M3 core handling real-time interrupts, PWM, and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375" y="3286125"/>
            <a:ext cx="37420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HC-SR04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562350"/>
            <a:ext cx="2946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Non-contact ultrasonic distance measurement for water surface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525" y="3381375"/>
            <a:ext cx="37420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L298N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657600"/>
            <a:ext cx="294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Dual H-bridge driver managing DC pump power and speed modulation.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00175"/>
            <a:ext cx="10668000" cy="4638675"/>
          </a:xfrm>
          <a:prstGeom prst="roundRect">
            <a:avLst>
              <a:gd name="adj" fmla="val 24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HARDWARE INTERFACING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GPIO &amp; Peripheral Pin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325" y="2876550"/>
            <a:ext cx="11115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PA8 (Output):</a:t>
            </a:r>
            <a:r>
              <a:rPr b="0" sz="1350" i="0" u="none">
                <a:solidFill>
                  <a:srgbClr val="1E293B"/>
                </a:solidFill>
                <a:latin typeface="Inter"/>
              </a:rPr>
              <a:t> Ultrasonic Trigger pulse (10μs burst).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48025"/>
            <a:ext cx="11115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PA9 (Input):</a:t>
            </a:r>
            <a:r>
              <a:rPr b="0" sz="1350" i="0" u="none">
                <a:solidFill>
                  <a:srgbClr val="1E293B"/>
                </a:solidFill>
                <a:latin typeface="Inter"/>
              </a:rPr>
              <a:t> Ultrasonic Echo pulse width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619500"/>
            <a:ext cx="11115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PA5 (Output):</a:t>
            </a:r>
            <a:r>
              <a:rPr b="0" sz="1350" i="0" u="none">
                <a:solidFill>
                  <a:srgbClr val="1E293B"/>
                </a:solidFill>
                <a:latin typeface="Inter"/>
              </a:rPr>
              <a:t> Motor Driver IN1 direction / run switch.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990975"/>
            <a:ext cx="11115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PA0 / TIM2_CH1:</a:t>
            </a:r>
            <a:r>
              <a:rPr b="0" sz="1350" i="0" u="none">
                <a:solidFill>
                  <a:srgbClr val="1E293B"/>
                </a:solidFill>
                <a:latin typeface="Inter"/>
              </a:rPr>
              <a:t> PWM signal output for motor speed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362450"/>
            <a:ext cx="11115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PC13 (EXTI):</a:t>
            </a:r>
            <a:r>
              <a:rPr b="0" sz="1350" i="0" u="none">
                <a:solidFill>
                  <a:srgbClr val="1E293B"/>
                </a:solidFill>
                <a:latin typeface="Inter"/>
              </a:rPr>
              <a:t> User push-button for Auto / Manual mode toggle.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00175"/>
            <a:ext cx="5181600" cy="4543425"/>
          </a:xfrm>
          <a:prstGeom prst="roundRect">
            <a:avLst>
              <a:gd name="adj" fmla="val 25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00175"/>
            <a:ext cx="5181600" cy="4543425"/>
          </a:xfrm>
          <a:prstGeom prst="roundRect">
            <a:avLst>
              <a:gd name="adj" fmla="val 25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ALGORITHMS &amp;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Distance &amp; Percentage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071812"/>
            <a:ext cx="58757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Distance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452812"/>
            <a:ext cx="5595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Inter"/>
              </a:rPr>
              <a:t>Distance (cm) = Microseconds / 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81476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Based on sound velocity (~0.0343 cm/μs) accounting for round-trip travel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071812"/>
            <a:ext cx="5591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Tank Volume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452812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Inter"/>
              </a:rPr>
              <a:t>Water % = (30 - Distance) * 100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81476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Linear interpolation mapping air gap distances (5cm to 30cm) to fill percentage.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643187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86087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298608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298608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FIRMWARE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Automated Threshold &amp; Manual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 Mode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Distance &gt; 15cm triggers Pump ON; Distance ≤ 15cm triggers Pump OFF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47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Pressing the onboard blue push button (PC13) toggles control mode and pump state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433762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PWM Speed Modulation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77666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TIM2 generates precise 80% duty cycle PWM pulses to control motor pumping intensity.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00175"/>
            <a:ext cx="10668000" cy="4638675"/>
          </a:xfrm>
          <a:prstGeom prst="roundRect">
            <a:avLst>
              <a:gd name="adj" fmla="val 24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SYSTEM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Live USART2 Serial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3119437"/>
            <a:ext cx="11087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monospace"/>
              </a:rPr>
              <a:t>Distance: 30cm | Water: 0% | Pump: ON | Mode: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452812"/>
            <a:ext cx="11087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monospace"/>
              </a:rPr>
              <a:t>Distance: 26cm | Water: 56% | Pump: ON | Mode: AUTO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786187"/>
            <a:ext cx="11087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monospace"/>
              </a:rPr>
              <a:t>Distance: 7cm | Water: 92% | Pump: OFF | Mode: AUTO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119562"/>
            <a:ext cx="11087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monospace"/>
              </a:rPr>
              <a:t>Distance: 11cm | Water: 80% | Pump: OFF | Mode: AUTO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5181600" cy="4467225"/>
          </a:xfrm>
          <a:prstGeom prst="roundRect">
            <a:avLst>
              <a:gd name="adj" fmla="val 2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76375"/>
            <a:ext cx="5181600" cy="4467225"/>
          </a:xfrm>
          <a:prstGeom prst="roundRect">
            <a:avLst>
              <a:gd name="adj" fmla="val 2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Overcoming Hardware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275707"/>
            <a:ext cx="58757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Relay Voltage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656707"/>
            <a:ext cx="4572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Standard 5V relays failed to release on 3.3V STM32 output thresholds due to transistor gate limitations.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153816"/>
            <a:ext cx="5591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L298N Motor Driver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34816"/>
            <a:ext cx="4572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Transitioned to an L298N dual H-bridge motor driver with common grounding to achieve robust, reliable pump switching.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81312"/>
            <a:ext cx="340355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81312"/>
            <a:ext cx="340355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81312"/>
            <a:ext cx="340355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Future Scope &amp; IoT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195637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Wi-Fi &amp; IoT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538537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Integrating ESP8266 modules for remote cloud telemetry and dashboard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195637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Mobile App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538537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Push notifications and real-time smartphone alerts for tank levels and pump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195637"/>
            <a:ext cx="36420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Solar Power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538537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Energy-efficient solar battery charging for sustainable agricultural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58307" y="2376487"/>
            <a:ext cx="3075384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3081337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Successfully designed and implemented an intelligent, robust, and automated water management system with reliable sensor polling, PWM control, and live serial telemetry.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9953" y="4281487"/>
            <a:ext cx="1512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